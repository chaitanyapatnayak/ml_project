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5B8A6"/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0160">
            <a:solidFill>
              <a:srgbClr val="DCE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652881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23CSE301  •  MACHINE LEARNING CAPSTONE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5B8A6"/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640080"/>
            <a:ext cx="2926080" cy="2926080"/>
          </a:xfrm>
          <a:prstGeom prst="ellipse">
            <a:avLst/>
          </a:prstGeom>
          <a:solidFill>
            <a:srgbClr val="15B8A6">
              <a:alpha val="22000"/>
            </a:srgbClr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1828800"/>
            <a:ext cx="2011680" cy="2011680"/>
          </a:xfrm>
          <a:prstGeom prst="ellipse">
            <a:avLst/>
          </a:prstGeom>
          <a:solidFill>
            <a:srgbClr val="F1B84B">
              <a:alpha val="28000"/>
            </a:srgbClr>
          </a:solidFill>
          <a:ln w="12700">
            <a:solidFill>
              <a:srgbClr val="F1B8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685800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5B8A6"/>
                </a:solidFill>
              </a:rPr>
              <a:t>MACHINE LEARNING CAPSTONE  |  23CSE301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1353312"/>
            <a:ext cx="7772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Real-Time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Content Moderator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86384" y="324612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6F3"/>
                </a:solidFill>
              </a:rPr>
              <a:t>Review 2 — Classification Part B + Clustering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86384" y="42519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B7C7D9"/>
                </a:solidFill>
              </a:rPr>
              <a:t>Team: [add team members]   •   Section: [add section]   •   Instructor: [add name]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6384" y="4800600"/>
            <a:ext cx="9784080" cy="0"/>
          </a:xfrm>
          <a:prstGeom prst="line">
            <a:avLst/>
          </a:prstGeom>
          <a:noFill/>
          <a:ln w="15240">
            <a:solidFill>
              <a:srgbClr val="3950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5102352"/>
            <a:ext cx="2194560" cy="292608"/>
          </a:xfrm>
          <a:prstGeom prst="roundRect">
            <a:avLst>
              <a:gd name="adj" fmla="val 46875"/>
            </a:avLst>
          </a:prstGeom>
          <a:solidFill>
            <a:srgbClr val="203A57"/>
          </a:solidFill>
          <a:ln w="12700">
            <a:solidFill>
              <a:srgbClr val="203A57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5120640"/>
            <a:ext cx="2194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10 CLASSIFIERS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5102352"/>
            <a:ext cx="2057400" cy="292608"/>
          </a:xfrm>
          <a:prstGeom prst="roundRect">
            <a:avLst>
              <a:gd name="adj" fmla="val 46875"/>
            </a:avLst>
          </a:prstGeom>
          <a:solidFill>
            <a:srgbClr val="203A57"/>
          </a:solidFill>
          <a:ln w="12700">
            <a:solidFill>
              <a:srgbClr val="203A57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5120640"/>
            <a:ext cx="2057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 CLUSTERING METHODS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0" y="5102352"/>
            <a:ext cx="1965960" cy="292608"/>
          </a:xfrm>
          <a:prstGeom prst="roundRect">
            <a:avLst>
              <a:gd name="adj" fmla="val 46875"/>
            </a:avLst>
          </a:prstGeom>
          <a:solidFill>
            <a:srgbClr val="203A57"/>
          </a:solidFill>
          <a:ln w="12700">
            <a:solidFill>
              <a:srgbClr val="203A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5120640"/>
            <a:ext cx="19659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METRICS + VISUALS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6384" y="6172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A4B9"/>
                </a:solidFill>
              </a:rPr>
              <a:t>Review 2 | Academic Year 2026–27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2 — required scope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deliverable extends the same Review 1 dataset and project, rather than restarting from scratch.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399032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  <a:effectLst>
            <a:outerShdw sx="100000" sy="100000" kx="0" ky="0" algn="bl" rotWithShape="0" blurRad="19050" dist="50800" dir="2700000">
              <a:srgbClr val="9AA8B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536192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80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Part B  •  6 marks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" y="1911096"/>
            <a:ext cx="496519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Classifier</a:t>
            </a:r>
            <a:endParaRPr lang="en-US" sz="1240" dirty="0"/>
          </a:p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AdaBoost Classifier</a:t>
            </a:r>
            <a:endParaRPr lang="en-US" sz="1240" dirty="0"/>
          </a:p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 Classifier</a:t>
            </a:r>
            <a:endParaRPr lang="en-US" sz="1240" dirty="0"/>
          </a:p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 Classifier (Decision Tree base estimator)</a:t>
            </a:r>
            <a:endParaRPr lang="en-US" sz="1240" dirty="0"/>
          </a:p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 Classifier (Neural Network)</a:t>
            </a:r>
            <a:endParaRPr lang="en-US" sz="1240" dirty="0"/>
          </a:p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comparison table across all ten models</a:t>
            </a:r>
            <a:endParaRPr lang="en-US" sz="1240" dirty="0"/>
          </a:p>
        </p:txBody>
      </p:sp>
      <p:sp>
        <p:nvSpPr>
          <p:cNvPr id="8" name="Shape 6"/>
          <p:cNvSpPr/>
          <p:nvPr/>
        </p:nvSpPr>
        <p:spPr>
          <a:xfrm>
            <a:off x="6199632" y="1399032"/>
            <a:ext cx="539496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  <a:effectLst>
            <a:outerShdw sx="100000" sy="100000" kx="0" ky="0" algn="bl" rotWithShape="0" blurRad="19050" dist="50800" dir="2700000">
              <a:srgbClr val="9AA8B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2512" y="1536192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80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 track  •  8 marks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911096"/>
            <a:ext cx="50109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 — Elbow curve to choose k</a:t>
            </a:r>
            <a:endParaRPr lang="en-US" sz="1240" dirty="0"/>
          </a:p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Agglomerative Hierarchical Clustering</a:t>
            </a:r>
            <a:endParaRPr lang="en-US" sz="1240" dirty="0"/>
          </a:p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Silhouette, Davies–Bouldin, Calinski–Harabasz</a:t>
            </a:r>
            <a:endParaRPr lang="en-US" sz="1240" dirty="0"/>
          </a:p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Dendrogram and linkage comparison</a:t>
            </a:r>
            <a:endParaRPr lang="en-US" sz="1240" dirty="0"/>
          </a:p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PCA plot for each required algorithm</a:t>
            </a:r>
            <a:endParaRPr lang="en-US" sz="1240" dirty="0"/>
          </a:p>
          <a:p>
            <a:pPr marL="127000" indent="-127000">
              <a:buSzPct val="100000"/>
              <a:buChar char="•"/>
            </a:pPr>
            <a:r>
              <a:rPr lang="en-US" sz="12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t-SNE plot for at least one algorithm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566928" y="4956048"/>
            <a:ext cx="11027664" cy="10241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51389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Integration + viva  •  11 marks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86384" y="5477256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64A"/>
                </a:solidFill>
              </a:rPr>
              <a:t>Clean notebooks  •  README + requirements  •  meaningful commits  •  presentable outputs  •  team-authored interpretation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75520" y="704088"/>
            <a:ext cx="1645920" cy="292608"/>
          </a:xfrm>
          <a:prstGeom prst="roundRect">
            <a:avLst>
              <a:gd name="adj" fmla="val 46875"/>
            </a:avLst>
          </a:prstGeom>
          <a:solidFill>
            <a:srgbClr val="FFF2D5"/>
          </a:solidFill>
          <a:ln w="12700">
            <a:solidFill>
              <a:srgbClr val="FFF2D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0" y="722376"/>
            <a:ext cx="1645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15711"/>
                </a:solidFill>
              </a:rPr>
              <a:t>OPTIONAL GUI +1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feature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Civil Comments sample used in Review 1. The classification and clustering tasks handle the labels differently.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89888"/>
            <a:ext cx="2542032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544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32238"/>
                </a:solidFill>
              </a:rPr>
              <a:t>50,000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594360" y="197510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records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389888"/>
            <a:ext cx="2542032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5544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32238"/>
                </a:solidFill>
              </a:rPr>
              <a:t>45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3383280" y="197510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columns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1389888"/>
            <a:ext cx="2542032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5544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32238"/>
                </a:solidFill>
              </a:rPr>
              <a:t>92.1%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172200" y="197510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non-toxic labels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961120" y="1389888"/>
            <a:ext cx="2542032" cy="91440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0" y="155448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C84747"/>
                </a:solidFill>
              </a:rPr>
              <a:t>7.9%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8961120" y="1975104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toxic labels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1792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Classification features (10)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2990088"/>
            <a:ext cx="50749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6364A"/>
                </a:solidFill>
              </a:rPr>
              <a:t>Comment length • word count • uppercase ratio • ! and ? counts • special-character count • digit count • unique-word ratio • average word length • time of day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236208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Classification flow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99632" y="3090672"/>
            <a:ext cx="9144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3255264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</a:rPr>
              <a:t>CSV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36208" y="3566160"/>
            <a:ext cx="8412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50k rows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7114032" y="34015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B8A6"/>
                </a:solidFill>
              </a:rPr>
              <a:t>›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269480" y="3090672"/>
            <a:ext cx="9144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06056" y="3255264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</a:rPr>
              <a:t>Engineer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06056" y="3566160"/>
            <a:ext cx="8412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text features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8183880" y="34015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B8A6"/>
                </a:solidFill>
              </a:rPr>
              <a:t>›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8339328" y="3090672"/>
            <a:ext cx="9144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75904" y="3255264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</a:rPr>
              <a:t>Split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75904" y="3566160"/>
            <a:ext cx="8412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80:20 stratified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9253728" y="34015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B8A6"/>
                </a:solidFill>
              </a:rPr>
              <a:t>›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409176" y="3090672"/>
            <a:ext cx="914400" cy="93268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45752" y="3255264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238"/>
                </a:solidFill>
              </a:rPr>
              <a:t>Pipeline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45752" y="3566160"/>
            <a:ext cx="8412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impute + scale + encode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10323576" y="340156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5B8A6"/>
                </a:solidFill>
              </a:rPr>
              <a:t>›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10479024" y="3090672"/>
            <a:ext cx="914400" cy="932688"/>
          </a:xfrm>
          <a:prstGeom prst="roundRect">
            <a:avLst/>
          </a:prstGeom>
          <a:solidFill>
            <a:srgbClr val="DDF7F2"/>
          </a:solidFill>
          <a:ln w="8890">
            <a:solidFill>
              <a:srgbClr val="DCE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15600" y="3255264"/>
            <a:ext cx="841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8076"/>
                </a:solidFill>
              </a:rPr>
              <a:t>Evaluate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0" y="3566160"/>
            <a:ext cx="841248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</a:rPr>
              <a:t>10 models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594360" y="4389120"/>
            <a:ext cx="10972800" cy="1280160"/>
          </a:xfrm>
          <a:prstGeom prst="roundRect">
            <a:avLst/>
          </a:prstGeom>
          <a:solidFill>
            <a:srgbClr val="ECF9F6"/>
          </a:solidFill>
          <a:ln w="10160">
            <a:solidFill>
              <a:srgbClr val="B8DA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590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8076"/>
                </a:solidFill>
              </a:rPr>
              <a:t>Clustering leakage safeguard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22960" y="4956048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6364A"/>
                </a:solidFill>
              </a:rPr>
              <a:t>The target and toxicity labels are excluded from the clustering feature matrix. They are used only after clustering for optional descriptive validation. Clustering metrics use a reproducible 3,000-row sample; dendrogram and t-SNE plots use smaller documented samples.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— all ten required algorithms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 models are retrained for the consolidated table; Part B completes the required classifier set.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1600200" cy="292608"/>
          </a:xfrm>
          <a:prstGeom prst="roundRect">
            <a:avLst>
              <a:gd name="adj" fmla="val 46875"/>
            </a:avLst>
          </a:prstGeom>
          <a:solidFill>
            <a:srgbClr val="E8EFF8"/>
          </a:solidFill>
          <a:ln w="12700">
            <a:solidFill>
              <a:srgbClr val="E8EFF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71600"/>
            <a:ext cx="1600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32238"/>
                </a:solidFill>
              </a:rPr>
              <a:t>REVIEW 1 • PART 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45352" y="1353312"/>
            <a:ext cx="1600200" cy="292608"/>
          </a:xfrm>
          <a:prstGeom prst="roundRect">
            <a:avLst>
              <a:gd name="adj" fmla="val 46875"/>
            </a:avLst>
          </a:prstGeom>
          <a:solidFill>
            <a:srgbClr val="DDF7F2"/>
          </a:solidFill>
          <a:ln w="12700">
            <a:solidFill>
              <a:srgbClr val="DDF7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45352" y="1371600"/>
            <a:ext cx="16002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8076"/>
                </a:solidFill>
              </a:rPr>
              <a:t>REVIEW 2 • PART 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1792" y="1783080"/>
            <a:ext cx="5230368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1901952"/>
            <a:ext cx="384048" cy="384048"/>
          </a:xfrm>
          <a:prstGeom prst="ellipse">
            <a:avLst/>
          </a:prstGeom>
          <a:solidFill>
            <a:srgbClr val="DDF7F2"/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1975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076"/>
                </a:solidFill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61872" y="18928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32238"/>
                </a:solidFill>
              </a:rPr>
              <a:t>Logistic Regression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261872" y="215798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linear baseline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1792" y="2587752"/>
            <a:ext cx="5230368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2706624"/>
            <a:ext cx="384048" cy="384048"/>
          </a:xfrm>
          <a:prstGeom prst="ellipse">
            <a:avLst/>
          </a:prstGeom>
          <a:solidFill>
            <a:srgbClr val="DDF7F2"/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7797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076"/>
                </a:solidFill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61872" y="2697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32238"/>
                </a:solidFill>
              </a:rPr>
              <a:t>K-Nearest Neighbors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1261872" y="2962656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distance-based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" y="3392424"/>
            <a:ext cx="5230368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511296"/>
            <a:ext cx="384048" cy="384048"/>
          </a:xfrm>
          <a:prstGeom prst="ellipse">
            <a:avLst/>
          </a:prstGeom>
          <a:solidFill>
            <a:srgbClr val="DDF7F2"/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35844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076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61872" y="3502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32238"/>
                </a:solidFill>
              </a:rPr>
              <a:t>Gaussian Naive Bayes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261872" y="37673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probabilistic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1792" y="4197096"/>
            <a:ext cx="5230368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4315968"/>
            <a:ext cx="384048" cy="384048"/>
          </a:xfrm>
          <a:prstGeom prst="ellipse">
            <a:avLst/>
          </a:prstGeom>
          <a:solidFill>
            <a:srgbClr val="DDF7F2"/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" y="43891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076"/>
                </a:solidFill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61872" y="43068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32238"/>
                </a:solidFill>
              </a:rPr>
              <a:t>Decision Tree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261872" y="457200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tree-based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" y="5001768"/>
            <a:ext cx="5230368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5120640"/>
            <a:ext cx="384048" cy="384048"/>
          </a:xfrm>
          <a:prstGeom prst="ellipse">
            <a:avLst/>
          </a:prstGeom>
          <a:solidFill>
            <a:srgbClr val="DDF7F2"/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" y="51937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076"/>
                </a:solidFill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261872" y="51114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32238"/>
                </a:solidFill>
              </a:rPr>
              <a:t>Support Vector Classifier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1261872" y="537667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maximum-margin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63640" y="1783080"/>
            <a:ext cx="5230368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3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91656" y="1901952"/>
            <a:ext cx="384048" cy="384048"/>
          </a:xfrm>
          <a:prstGeom prst="ellipse">
            <a:avLst/>
          </a:prstGeom>
          <a:solidFill>
            <a:srgbClr val="DDF7F2"/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91656" y="19751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076"/>
                </a:solidFill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189280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32238"/>
                </a:solidFill>
              </a:rPr>
              <a:t>Random Forest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6903720" y="215798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bagging ensemble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63640" y="2587752"/>
            <a:ext cx="5230368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91656" y="2706624"/>
            <a:ext cx="384048" cy="384048"/>
          </a:xfrm>
          <a:prstGeom prst="ellipse">
            <a:avLst/>
          </a:prstGeom>
          <a:solidFill>
            <a:srgbClr val="DDF7F2"/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91656" y="277977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076"/>
                </a:solidFill>
              </a:rPr>
              <a:t>07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03720" y="269748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32238"/>
                </a:solidFill>
              </a:rPr>
              <a:t>AdaBoost</a:t>
            </a:r>
            <a:endParaRPr lang="en-US" sz="1320" dirty="0"/>
          </a:p>
        </p:txBody>
      </p:sp>
      <p:sp>
        <p:nvSpPr>
          <p:cNvPr id="43" name="Text 41"/>
          <p:cNvSpPr/>
          <p:nvPr/>
        </p:nvSpPr>
        <p:spPr>
          <a:xfrm>
            <a:off x="6903720" y="2962656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adaptive boosting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63640" y="3392424"/>
            <a:ext cx="5230368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91656" y="3511296"/>
            <a:ext cx="384048" cy="384048"/>
          </a:xfrm>
          <a:prstGeom prst="ellipse">
            <a:avLst/>
          </a:prstGeom>
          <a:solidFill>
            <a:srgbClr val="DDF7F2"/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358444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076"/>
                </a:solidFill>
              </a:rPr>
              <a:t>08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903720" y="35021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32238"/>
                </a:solidFill>
              </a:rPr>
              <a:t>Gradient Boosting</a:t>
            </a:r>
            <a:endParaRPr lang="en-US" sz="1320" dirty="0"/>
          </a:p>
        </p:txBody>
      </p:sp>
      <p:sp>
        <p:nvSpPr>
          <p:cNvPr id="48" name="Text 46"/>
          <p:cNvSpPr/>
          <p:nvPr/>
        </p:nvSpPr>
        <p:spPr>
          <a:xfrm>
            <a:off x="6903720" y="37673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sequential boosting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63640" y="4197096"/>
            <a:ext cx="5230368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91656" y="4315968"/>
            <a:ext cx="384048" cy="384048"/>
          </a:xfrm>
          <a:prstGeom prst="ellipse">
            <a:avLst/>
          </a:prstGeom>
          <a:solidFill>
            <a:srgbClr val="DDF7F2"/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91656" y="43891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076"/>
                </a:solidFill>
              </a:rPr>
              <a:t>09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03720" y="43068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32238"/>
                </a:solidFill>
              </a:rPr>
              <a:t>Bagging (Decision Tree)</a:t>
            </a:r>
            <a:endParaRPr lang="en-US" sz="1320" dirty="0"/>
          </a:p>
        </p:txBody>
      </p:sp>
      <p:sp>
        <p:nvSpPr>
          <p:cNvPr id="53" name="Text 51"/>
          <p:cNvSpPr/>
          <p:nvPr/>
        </p:nvSpPr>
        <p:spPr>
          <a:xfrm>
            <a:off x="6903720" y="457200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bootstrap ensemble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263640" y="5001768"/>
            <a:ext cx="5230368" cy="6400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CE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91656" y="5120640"/>
            <a:ext cx="384048" cy="384048"/>
          </a:xfrm>
          <a:prstGeom prst="ellipse">
            <a:avLst/>
          </a:prstGeom>
          <a:solidFill>
            <a:srgbClr val="DDF7F2"/>
          </a:solidFill>
          <a:ln w="12700">
            <a:solidFill>
              <a:srgbClr val="15B8A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91656" y="519379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8076"/>
                </a:solidFill>
              </a:rPr>
              <a:t>10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903720" y="511149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32238"/>
                </a:solidFill>
              </a:rPr>
              <a:t>MLP Classifier</a:t>
            </a:r>
            <a:endParaRPr lang="en-US" sz="1320" dirty="0"/>
          </a:p>
        </p:txBody>
      </p:sp>
      <p:sp>
        <p:nvSpPr>
          <p:cNvPr id="58" name="Text 56"/>
          <p:cNvSpPr/>
          <p:nvPr/>
        </p:nvSpPr>
        <p:spPr>
          <a:xfrm>
            <a:off x="6903720" y="5376672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neural network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58368" y="5916168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All ten share the same dataset, feature family, and stratified 80:20 test split for the consolidated comparison.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Classification — consolidated test-set results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are taken from the executed classification notebook; precision, recall and toxic F1 refer to class 1.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35024"/>
            <a:ext cx="2971800" cy="384048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57884"/>
            <a:ext cx="288036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3520440" y="1335024"/>
            <a:ext cx="1115568" cy="384048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357884"/>
            <a:ext cx="1024128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4636008" y="1335024"/>
            <a:ext cx="1234440" cy="384048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81728" y="1357884"/>
            <a:ext cx="114300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5870448" y="1335024"/>
            <a:ext cx="1097280" cy="384048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6168" y="1357884"/>
            <a:ext cx="10058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6967728" y="1335024"/>
            <a:ext cx="1097280" cy="384048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13448" y="1357884"/>
            <a:ext cx="10058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toxic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8065008" y="1335024"/>
            <a:ext cx="1325880" cy="384048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1357884"/>
            <a:ext cx="12344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F1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9390888" y="1335024"/>
            <a:ext cx="1097280" cy="384048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36608" y="1357884"/>
            <a:ext cx="100584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548640" y="1719072"/>
            <a:ext cx="297180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1741932"/>
            <a:ext cx="288036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Bagging (Decision Tree)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3520440" y="1719072"/>
            <a:ext cx="1115568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1741932"/>
            <a:ext cx="1024128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0.4601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4636008" y="1719072"/>
            <a:ext cx="123444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1741932"/>
            <a:ext cx="114300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0.0923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5870448" y="1719072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16168" y="1741932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0.6608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967728" y="1719072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13448" y="1741932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0.1620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065008" y="1719072"/>
            <a:ext cx="13258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10728" y="1741932"/>
            <a:ext cx="12344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0.5670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9390888" y="1719072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36608" y="1741932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0.5764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548640" y="2089404"/>
            <a:ext cx="297180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2112264"/>
            <a:ext cx="288036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Gaussian Naive Bayes</a:t>
            </a:r>
            <a:endParaRPr lang="en-US" sz="960" dirty="0"/>
          </a:p>
        </p:txBody>
      </p:sp>
      <p:sp>
        <p:nvSpPr>
          <p:cNvPr id="35" name="Shape 33"/>
          <p:cNvSpPr/>
          <p:nvPr/>
        </p:nvSpPr>
        <p:spPr>
          <a:xfrm>
            <a:off x="3520440" y="2089404"/>
            <a:ext cx="1115568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66160" y="2112264"/>
            <a:ext cx="1024128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0.8462</a:t>
            </a:r>
            <a:endParaRPr lang="en-US" sz="960" dirty="0"/>
          </a:p>
        </p:txBody>
      </p:sp>
      <p:sp>
        <p:nvSpPr>
          <p:cNvPr id="37" name="Shape 35"/>
          <p:cNvSpPr/>
          <p:nvPr/>
        </p:nvSpPr>
        <p:spPr>
          <a:xfrm>
            <a:off x="4636008" y="2089404"/>
            <a:ext cx="123444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81728" y="2112264"/>
            <a:ext cx="114300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0.1128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5870448" y="2089404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16168" y="2112264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0.1380</a:t>
            </a:r>
            <a:endParaRPr lang="en-US" sz="960" dirty="0"/>
          </a:p>
        </p:txBody>
      </p:sp>
      <p:sp>
        <p:nvSpPr>
          <p:cNvPr id="41" name="Shape 39"/>
          <p:cNvSpPr/>
          <p:nvPr/>
        </p:nvSpPr>
        <p:spPr>
          <a:xfrm>
            <a:off x="6967728" y="2089404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13448" y="2112264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0.1241</a:t>
            </a:r>
            <a:endParaRPr lang="en-US" sz="960" dirty="0"/>
          </a:p>
        </p:txBody>
      </p:sp>
      <p:sp>
        <p:nvSpPr>
          <p:cNvPr id="43" name="Shape 41"/>
          <p:cNvSpPr/>
          <p:nvPr/>
        </p:nvSpPr>
        <p:spPr>
          <a:xfrm>
            <a:off x="8065008" y="2089404"/>
            <a:ext cx="13258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0728" y="2112264"/>
            <a:ext cx="12344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0.8532</a:t>
            </a:r>
            <a:endParaRPr lang="en-US" sz="960" dirty="0"/>
          </a:p>
        </p:txBody>
      </p:sp>
      <p:sp>
        <p:nvSpPr>
          <p:cNvPr id="45" name="Shape 43"/>
          <p:cNvSpPr/>
          <p:nvPr/>
        </p:nvSpPr>
        <p:spPr>
          <a:xfrm>
            <a:off x="9390888" y="2089404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36608" y="2112264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0.5637</a:t>
            </a:r>
            <a:endParaRPr lang="en-US" sz="960" dirty="0"/>
          </a:p>
        </p:txBody>
      </p:sp>
      <p:sp>
        <p:nvSpPr>
          <p:cNvPr id="47" name="Shape 45"/>
          <p:cNvSpPr/>
          <p:nvPr/>
        </p:nvSpPr>
        <p:spPr>
          <a:xfrm>
            <a:off x="548640" y="2459736"/>
            <a:ext cx="297180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2482596"/>
            <a:ext cx="288036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K-Nearest Neighbors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3520440" y="2459736"/>
            <a:ext cx="1115568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66160" y="2482596"/>
            <a:ext cx="1024128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0.9166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4636008" y="2459736"/>
            <a:ext cx="123444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81728" y="2482596"/>
            <a:ext cx="114300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0.0926</a:t>
            </a:r>
            <a:endParaRPr lang="en-US" sz="960" dirty="0"/>
          </a:p>
        </p:txBody>
      </p:sp>
      <p:sp>
        <p:nvSpPr>
          <p:cNvPr id="53" name="Shape 51"/>
          <p:cNvSpPr/>
          <p:nvPr/>
        </p:nvSpPr>
        <p:spPr>
          <a:xfrm>
            <a:off x="5870448" y="2459736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16168" y="2482596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0.0063</a:t>
            </a:r>
            <a:endParaRPr lang="en-US" sz="960" dirty="0"/>
          </a:p>
        </p:txBody>
      </p:sp>
      <p:sp>
        <p:nvSpPr>
          <p:cNvPr id="55" name="Shape 53"/>
          <p:cNvSpPr/>
          <p:nvPr/>
        </p:nvSpPr>
        <p:spPr>
          <a:xfrm>
            <a:off x="6967728" y="2459736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13448" y="2482596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0.0118</a:t>
            </a:r>
            <a:endParaRPr lang="en-US" sz="960" dirty="0"/>
          </a:p>
        </p:txBody>
      </p:sp>
      <p:sp>
        <p:nvSpPr>
          <p:cNvPr id="57" name="Shape 55"/>
          <p:cNvSpPr/>
          <p:nvPr/>
        </p:nvSpPr>
        <p:spPr>
          <a:xfrm>
            <a:off x="8065008" y="2459736"/>
            <a:ext cx="13258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0728" y="2482596"/>
            <a:ext cx="12344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0.8818</a:t>
            </a:r>
            <a:endParaRPr lang="en-US" sz="960" dirty="0"/>
          </a:p>
        </p:txBody>
      </p:sp>
      <p:sp>
        <p:nvSpPr>
          <p:cNvPr id="59" name="Shape 57"/>
          <p:cNvSpPr/>
          <p:nvPr/>
        </p:nvSpPr>
        <p:spPr>
          <a:xfrm>
            <a:off x="9390888" y="2459736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36608" y="2482596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0.5215</a:t>
            </a:r>
            <a:endParaRPr lang="en-US" sz="960" dirty="0"/>
          </a:p>
        </p:txBody>
      </p:sp>
      <p:sp>
        <p:nvSpPr>
          <p:cNvPr id="61" name="Shape 59"/>
          <p:cNvSpPr/>
          <p:nvPr/>
        </p:nvSpPr>
        <p:spPr>
          <a:xfrm>
            <a:off x="548640" y="2830068"/>
            <a:ext cx="297180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2852928"/>
            <a:ext cx="288036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3520440" y="2830068"/>
            <a:ext cx="1115568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566160" y="2852928"/>
            <a:ext cx="1024128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0.9178</a:t>
            </a:r>
            <a:endParaRPr lang="en-US" sz="960" dirty="0"/>
          </a:p>
        </p:txBody>
      </p:sp>
      <p:sp>
        <p:nvSpPr>
          <p:cNvPr id="65" name="Shape 63"/>
          <p:cNvSpPr/>
          <p:nvPr/>
        </p:nvSpPr>
        <p:spPr>
          <a:xfrm>
            <a:off x="4636008" y="2830068"/>
            <a:ext cx="123444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81728" y="2852928"/>
            <a:ext cx="114300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0.1000</a:t>
            </a:r>
            <a:endParaRPr lang="en-US" sz="960" dirty="0"/>
          </a:p>
        </p:txBody>
      </p:sp>
      <p:sp>
        <p:nvSpPr>
          <p:cNvPr id="67" name="Shape 65"/>
          <p:cNvSpPr/>
          <p:nvPr/>
        </p:nvSpPr>
        <p:spPr>
          <a:xfrm>
            <a:off x="5870448" y="2830068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16168" y="2852928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0.0051</a:t>
            </a:r>
            <a:endParaRPr lang="en-US" sz="960" dirty="0"/>
          </a:p>
        </p:txBody>
      </p:sp>
      <p:sp>
        <p:nvSpPr>
          <p:cNvPr id="69" name="Shape 67"/>
          <p:cNvSpPr/>
          <p:nvPr/>
        </p:nvSpPr>
        <p:spPr>
          <a:xfrm>
            <a:off x="6967728" y="2830068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013448" y="2852928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0.0096</a:t>
            </a:r>
            <a:endParaRPr lang="en-US" sz="960" dirty="0"/>
          </a:p>
        </p:txBody>
      </p:sp>
      <p:sp>
        <p:nvSpPr>
          <p:cNvPr id="71" name="Shape 69"/>
          <p:cNvSpPr/>
          <p:nvPr/>
        </p:nvSpPr>
        <p:spPr>
          <a:xfrm>
            <a:off x="8065008" y="2830068"/>
            <a:ext cx="13258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110728" y="2852928"/>
            <a:ext cx="12344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0.8823</a:t>
            </a:r>
            <a:endParaRPr lang="en-US" sz="960" dirty="0"/>
          </a:p>
        </p:txBody>
      </p:sp>
      <p:sp>
        <p:nvSpPr>
          <p:cNvPr id="73" name="Shape 71"/>
          <p:cNvSpPr/>
          <p:nvPr/>
        </p:nvSpPr>
        <p:spPr>
          <a:xfrm>
            <a:off x="9390888" y="2830068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436608" y="2852928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0.5521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548640" y="3200400"/>
            <a:ext cx="297180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4360" y="3223260"/>
            <a:ext cx="288036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Logistic Regression</a:t>
            </a:r>
            <a:endParaRPr lang="en-US" sz="960" dirty="0"/>
          </a:p>
        </p:txBody>
      </p:sp>
      <p:sp>
        <p:nvSpPr>
          <p:cNvPr id="77" name="Shape 75"/>
          <p:cNvSpPr/>
          <p:nvPr/>
        </p:nvSpPr>
        <p:spPr>
          <a:xfrm>
            <a:off x="3520440" y="3200400"/>
            <a:ext cx="1115568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566160" y="3223260"/>
            <a:ext cx="1024128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0.9210</a:t>
            </a:r>
            <a:endParaRPr lang="en-US" sz="960" dirty="0"/>
          </a:p>
        </p:txBody>
      </p:sp>
      <p:sp>
        <p:nvSpPr>
          <p:cNvPr id="79" name="Shape 77"/>
          <p:cNvSpPr/>
          <p:nvPr/>
        </p:nvSpPr>
        <p:spPr>
          <a:xfrm>
            <a:off x="4636008" y="3200400"/>
            <a:ext cx="123444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681728" y="3223260"/>
            <a:ext cx="114300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81" name="Shape 79"/>
          <p:cNvSpPr/>
          <p:nvPr/>
        </p:nvSpPr>
        <p:spPr>
          <a:xfrm>
            <a:off x="5870448" y="3200400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916168" y="3223260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83" name="Shape 81"/>
          <p:cNvSpPr/>
          <p:nvPr/>
        </p:nvSpPr>
        <p:spPr>
          <a:xfrm>
            <a:off x="6967728" y="3200400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13448" y="3223260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85" name="Shape 83"/>
          <p:cNvSpPr/>
          <p:nvPr/>
        </p:nvSpPr>
        <p:spPr>
          <a:xfrm>
            <a:off x="8065008" y="3200400"/>
            <a:ext cx="13258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110728" y="3223260"/>
            <a:ext cx="12344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0.8831</a:t>
            </a:r>
            <a:endParaRPr lang="en-US" sz="960" dirty="0"/>
          </a:p>
        </p:txBody>
      </p:sp>
      <p:sp>
        <p:nvSpPr>
          <p:cNvPr id="87" name="Shape 85"/>
          <p:cNvSpPr/>
          <p:nvPr/>
        </p:nvSpPr>
        <p:spPr>
          <a:xfrm>
            <a:off x="9390888" y="3200400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436608" y="3223260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0.5593</a:t>
            </a:r>
            <a:endParaRPr lang="en-US" sz="960" dirty="0"/>
          </a:p>
        </p:txBody>
      </p:sp>
      <p:sp>
        <p:nvSpPr>
          <p:cNvPr id="89" name="Shape 87"/>
          <p:cNvSpPr/>
          <p:nvPr/>
        </p:nvSpPr>
        <p:spPr>
          <a:xfrm>
            <a:off x="548640" y="3570732"/>
            <a:ext cx="297180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94360" y="3593592"/>
            <a:ext cx="288036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Tree</a:t>
            </a:r>
            <a:endParaRPr lang="en-US" sz="960" dirty="0"/>
          </a:p>
        </p:txBody>
      </p:sp>
      <p:sp>
        <p:nvSpPr>
          <p:cNvPr id="91" name="Shape 89"/>
          <p:cNvSpPr/>
          <p:nvPr/>
        </p:nvSpPr>
        <p:spPr>
          <a:xfrm>
            <a:off x="3520440" y="3570732"/>
            <a:ext cx="1115568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566160" y="3593592"/>
            <a:ext cx="1024128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0.9202</a:t>
            </a:r>
            <a:endParaRPr lang="en-US" sz="960" dirty="0"/>
          </a:p>
        </p:txBody>
      </p:sp>
      <p:sp>
        <p:nvSpPr>
          <p:cNvPr id="93" name="Shape 91"/>
          <p:cNvSpPr/>
          <p:nvPr/>
        </p:nvSpPr>
        <p:spPr>
          <a:xfrm>
            <a:off x="4636008" y="3570732"/>
            <a:ext cx="123444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681728" y="3593592"/>
            <a:ext cx="114300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95" name="Shape 93"/>
          <p:cNvSpPr/>
          <p:nvPr/>
        </p:nvSpPr>
        <p:spPr>
          <a:xfrm>
            <a:off x="5870448" y="3570732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916168" y="3593592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97" name="Shape 95"/>
          <p:cNvSpPr/>
          <p:nvPr/>
        </p:nvSpPr>
        <p:spPr>
          <a:xfrm>
            <a:off x="6967728" y="3570732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013448" y="3593592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99" name="Shape 97"/>
          <p:cNvSpPr/>
          <p:nvPr/>
        </p:nvSpPr>
        <p:spPr>
          <a:xfrm>
            <a:off x="8065008" y="3570732"/>
            <a:ext cx="13258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110728" y="3593592"/>
            <a:ext cx="12344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0.8827</a:t>
            </a:r>
            <a:endParaRPr lang="en-US" sz="960" dirty="0"/>
          </a:p>
        </p:txBody>
      </p:sp>
      <p:sp>
        <p:nvSpPr>
          <p:cNvPr id="101" name="Shape 99"/>
          <p:cNvSpPr/>
          <p:nvPr/>
        </p:nvSpPr>
        <p:spPr>
          <a:xfrm>
            <a:off x="9390888" y="3570732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436608" y="3593592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0.5609</a:t>
            </a:r>
            <a:endParaRPr lang="en-US" sz="960" dirty="0"/>
          </a:p>
        </p:txBody>
      </p:sp>
      <p:sp>
        <p:nvSpPr>
          <p:cNvPr id="103" name="Shape 101"/>
          <p:cNvSpPr/>
          <p:nvPr/>
        </p:nvSpPr>
        <p:spPr>
          <a:xfrm>
            <a:off x="548640" y="3941064"/>
            <a:ext cx="297180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94360" y="3963924"/>
            <a:ext cx="288036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Vector Classifier</a:t>
            </a:r>
            <a:endParaRPr lang="en-US" sz="960" dirty="0"/>
          </a:p>
        </p:txBody>
      </p:sp>
      <p:sp>
        <p:nvSpPr>
          <p:cNvPr id="105" name="Shape 103"/>
          <p:cNvSpPr/>
          <p:nvPr/>
        </p:nvSpPr>
        <p:spPr>
          <a:xfrm>
            <a:off x="3520440" y="3941064"/>
            <a:ext cx="1115568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566160" y="3963924"/>
            <a:ext cx="1024128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0.9210</a:t>
            </a:r>
            <a:endParaRPr lang="en-US" sz="960" dirty="0"/>
          </a:p>
        </p:txBody>
      </p:sp>
      <p:sp>
        <p:nvSpPr>
          <p:cNvPr id="107" name="Shape 105"/>
          <p:cNvSpPr/>
          <p:nvPr/>
        </p:nvSpPr>
        <p:spPr>
          <a:xfrm>
            <a:off x="4636008" y="3941064"/>
            <a:ext cx="123444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681728" y="3963924"/>
            <a:ext cx="114300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109" name="Shape 107"/>
          <p:cNvSpPr/>
          <p:nvPr/>
        </p:nvSpPr>
        <p:spPr>
          <a:xfrm>
            <a:off x="5870448" y="3941064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916168" y="3963924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111" name="Shape 109"/>
          <p:cNvSpPr/>
          <p:nvPr/>
        </p:nvSpPr>
        <p:spPr>
          <a:xfrm>
            <a:off x="6967728" y="3941064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013448" y="3963924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113" name="Shape 111"/>
          <p:cNvSpPr/>
          <p:nvPr/>
        </p:nvSpPr>
        <p:spPr>
          <a:xfrm>
            <a:off x="8065008" y="3941064"/>
            <a:ext cx="13258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110728" y="3963924"/>
            <a:ext cx="12344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0.8831</a:t>
            </a:r>
            <a:endParaRPr lang="en-US" sz="960" dirty="0"/>
          </a:p>
        </p:txBody>
      </p:sp>
      <p:sp>
        <p:nvSpPr>
          <p:cNvPr id="115" name="Shape 113"/>
          <p:cNvSpPr/>
          <p:nvPr/>
        </p:nvSpPr>
        <p:spPr>
          <a:xfrm>
            <a:off x="9390888" y="3941064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436608" y="3963924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0.5094</a:t>
            </a:r>
            <a:endParaRPr lang="en-US" sz="960" dirty="0"/>
          </a:p>
        </p:txBody>
      </p:sp>
      <p:sp>
        <p:nvSpPr>
          <p:cNvPr id="117" name="Shape 115"/>
          <p:cNvSpPr/>
          <p:nvPr/>
        </p:nvSpPr>
        <p:spPr>
          <a:xfrm>
            <a:off x="548640" y="4311396"/>
            <a:ext cx="297180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94360" y="4334256"/>
            <a:ext cx="288036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AdaBoost</a:t>
            </a:r>
            <a:endParaRPr lang="en-US" sz="960" dirty="0"/>
          </a:p>
        </p:txBody>
      </p:sp>
      <p:sp>
        <p:nvSpPr>
          <p:cNvPr id="119" name="Shape 117"/>
          <p:cNvSpPr/>
          <p:nvPr/>
        </p:nvSpPr>
        <p:spPr>
          <a:xfrm>
            <a:off x="3520440" y="4311396"/>
            <a:ext cx="1115568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3566160" y="4334256"/>
            <a:ext cx="1024128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0.9210</a:t>
            </a:r>
            <a:endParaRPr lang="en-US" sz="960" dirty="0"/>
          </a:p>
        </p:txBody>
      </p:sp>
      <p:sp>
        <p:nvSpPr>
          <p:cNvPr id="121" name="Shape 119"/>
          <p:cNvSpPr/>
          <p:nvPr/>
        </p:nvSpPr>
        <p:spPr>
          <a:xfrm>
            <a:off x="4636008" y="4311396"/>
            <a:ext cx="123444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4681728" y="4334256"/>
            <a:ext cx="114300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123" name="Shape 121"/>
          <p:cNvSpPr/>
          <p:nvPr/>
        </p:nvSpPr>
        <p:spPr>
          <a:xfrm>
            <a:off x="5870448" y="4311396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5916168" y="4334256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125" name="Shape 123"/>
          <p:cNvSpPr/>
          <p:nvPr/>
        </p:nvSpPr>
        <p:spPr>
          <a:xfrm>
            <a:off x="6967728" y="4311396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013448" y="4334256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127" name="Shape 125"/>
          <p:cNvSpPr/>
          <p:nvPr/>
        </p:nvSpPr>
        <p:spPr>
          <a:xfrm>
            <a:off x="8065008" y="4311396"/>
            <a:ext cx="13258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8110728" y="4334256"/>
            <a:ext cx="12344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0.8831</a:t>
            </a:r>
            <a:endParaRPr lang="en-US" sz="960" dirty="0"/>
          </a:p>
        </p:txBody>
      </p:sp>
      <p:sp>
        <p:nvSpPr>
          <p:cNvPr id="129" name="Shape 127"/>
          <p:cNvSpPr/>
          <p:nvPr/>
        </p:nvSpPr>
        <p:spPr>
          <a:xfrm>
            <a:off x="9390888" y="4311396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436608" y="4334256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0.5571</a:t>
            </a:r>
            <a:endParaRPr lang="en-US" sz="960" dirty="0"/>
          </a:p>
        </p:txBody>
      </p:sp>
      <p:sp>
        <p:nvSpPr>
          <p:cNvPr id="131" name="Shape 129"/>
          <p:cNvSpPr/>
          <p:nvPr/>
        </p:nvSpPr>
        <p:spPr>
          <a:xfrm>
            <a:off x="548640" y="4681728"/>
            <a:ext cx="297180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94360" y="4704588"/>
            <a:ext cx="288036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Boosting</a:t>
            </a:r>
            <a:endParaRPr lang="en-US" sz="960" dirty="0"/>
          </a:p>
        </p:txBody>
      </p:sp>
      <p:sp>
        <p:nvSpPr>
          <p:cNvPr id="133" name="Shape 131"/>
          <p:cNvSpPr/>
          <p:nvPr/>
        </p:nvSpPr>
        <p:spPr>
          <a:xfrm>
            <a:off x="3520440" y="4681728"/>
            <a:ext cx="1115568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3566160" y="4704588"/>
            <a:ext cx="1024128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0.9210</a:t>
            </a:r>
            <a:endParaRPr lang="en-US" sz="960" dirty="0"/>
          </a:p>
        </p:txBody>
      </p:sp>
      <p:sp>
        <p:nvSpPr>
          <p:cNvPr id="135" name="Shape 133"/>
          <p:cNvSpPr/>
          <p:nvPr/>
        </p:nvSpPr>
        <p:spPr>
          <a:xfrm>
            <a:off x="4636008" y="4681728"/>
            <a:ext cx="123444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681728" y="4704588"/>
            <a:ext cx="114300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137" name="Shape 135"/>
          <p:cNvSpPr/>
          <p:nvPr/>
        </p:nvSpPr>
        <p:spPr>
          <a:xfrm>
            <a:off x="5870448" y="4681728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916168" y="4704588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139" name="Shape 137"/>
          <p:cNvSpPr/>
          <p:nvPr/>
        </p:nvSpPr>
        <p:spPr>
          <a:xfrm>
            <a:off x="6967728" y="4681728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013448" y="4704588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141" name="Shape 139"/>
          <p:cNvSpPr/>
          <p:nvPr/>
        </p:nvSpPr>
        <p:spPr>
          <a:xfrm>
            <a:off x="8065008" y="4681728"/>
            <a:ext cx="13258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110728" y="4704588"/>
            <a:ext cx="12344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0.8831</a:t>
            </a:r>
            <a:endParaRPr lang="en-US" sz="960" dirty="0"/>
          </a:p>
        </p:txBody>
      </p:sp>
      <p:sp>
        <p:nvSpPr>
          <p:cNvPr id="143" name="Shape 141"/>
          <p:cNvSpPr/>
          <p:nvPr/>
        </p:nvSpPr>
        <p:spPr>
          <a:xfrm>
            <a:off x="9390888" y="4681728"/>
            <a:ext cx="1097280" cy="37033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436608" y="4704588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0.5790</a:t>
            </a:r>
            <a:endParaRPr lang="en-US" sz="960" dirty="0"/>
          </a:p>
        </p:txBody>
      </p:sp>
      <p:sp>
        <p:nvSpPr>
          <p:cNvPr id="145" name="Shape 143"/>
          <p:cNvSpPr/>
          <p:nvPr/>
        </p:nvSpPr>
        <p:spPr>
          <a:xfrm>
            <a:off x="548640" y="5052060"/>
            <a:ext cx="297180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94360" y="5074920"/>
            <a:ext cx="288036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 Classifier</a:t>
            </a:r>
            <a:endParaRPr lang="en-US" sz="960" dirty="0"/>
          </a:p>
        </p:txBody>
      </p:sp>
      <p:sp>
        <p:nvSpPr>
          <p:cNvPr id="147" name="Shape 145"/>
          <p:cNvSpPr/>
          <p:nvPr/>
        </p:nvSpPr>
        <p:spPr>
          <a:xfrm>
            <a:off x="3520440" y="5052060"/>
            <a:ext cx="1115568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3566160" y="5074920"/>
            <a:ext cx="1024128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0.9210</a:t>
            </a:r>
            <a:endParaRPr lang="en-US" sz="960" dirty="0"/>
          </a:p>
        </p:txBody>
      </p:sp>
      <p:sp>
        <p:nvSpPr>
          <p:cNvPr id="149" name="Shape 147"/>
          <p:cNvSpPr/>
          <p:nvPr/>
        </p:nvSpPr>
        <p:spPr>
          <a:xfrm>
            <a:off x="4636008" y="5052060"/>
            <a:ext cx="123444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681728" y="5074920"/>
            <a:ext cx="114300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151" name="Shape 149"/>
          <p:cNvSpPr/>
          <p:nvPr/>
        </p:nvSpPr>
        <p:spPr>
          <a:xfrm>
            <a:off x="5870448" y="5052060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916168" y="5074920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153" name="Shape 151"/>
          <p:cNvSpPr/>
          <p:nvPr/>
        </p:nvSpPr>
        <p:spPr>
          <a:xfrm>
            <a:off x="6967728" y="5052060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7013448" y="5074920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0.0000</a:t>
            </a:r>
            <a:endParaRPr lang="en-US" sz="960" dirty="0"/>
          </a:p>
        </p:txBody>
      </p:sp>
      <p:sp>
        <p:nvSpPr>
          <p:cNvPr id="155" name="Shape 153"/>
          <p:cNvSpPr/>
          <p:nvPr/>
        </p:nvSpPr>
        <p:spPr>
          <a:xfrm>
            <a:off x="8065008" y="5052060"/>
            <a:ext cx="13258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8110728" y="5074920"/>
            <a:ext cx="12344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0.8831</a:t>
            </a:r>
            <a:endParaRPr lang="en-US" sz="960" dirty="0"/>
          </a:p>
        </p:txBody>
      </p:sp>
      <p:sp>
        <p:nvSpPr>
          <p:cNvPr id="157" name="Shape 155"/>
          <p:cNvSpPr/>
          <p:nvPr/>
        </p:nvSpPr>
        <p:spPr>
          <a:xfrm>
            <a:off x="9390888" y="5052060"/>
            <a:ext cx="1097280" cy="37033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436608" y="5074920"/>
            <a:ext cx="1005840" cy="3246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0.5450</a:t>
            </a:r>
            <a:endParaRPr lang="en-US" sz="960" dirty="0"/>
          </a:p>
        </p:txBody>
      </p:sp>
      <p:sp>
        <p:nvSpPr>
          <p:cNvPr id="159" name="Text 157"/>
          <p:cNvSpPr/>
          <p:nvPr/>
        </p:nvSpPr>
        <p:spPr>
          <a:xfrm>
            <a:off x="612648" y="589788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b="1" dirty="0">
                <a:solidFill>
                  <a:srgbClr val="132238"/>
                </a:solidFill>
              </a:rPr>
              <a:t>Readout prompt for the team: explain the metrics together; do not select a model using accuracy alone.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Hyperparameter tuning — Random Forest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GridSearchCV maximized toxic-class F1 on a training-only subset; the chosen configuration was then refit on all 40,000 training rows.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37490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  <a:effectLst>
            <a:outerShdw sx="100000" sy="100000" kx="0" ky="0" algn="bl" rotWithShape="0" blurRad="19050" dist="50800" dir="2700000">
              <a:srgbClr val="9AA8B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5448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80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setup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929384"/>
            <a:ext cx="336499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parameter-search subset: 8,000 rows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Two-fold stratified CV for parameter search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parameters: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n_estimators = 60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max_depth = 8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min_samples_leaf = 2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class_weight = balanced_subsample</a:t>
            </a:r>
            <a:endParaRPr lang="en-US" sz="1160" dirty="0"/>
          </a:p>
          <a:p>
            <a:pPr marL="127000" indent="-127000">
              <a:buSzPct val="100000"/>
              <a:buChar char="•"/>
            </a:pPr>
            <a:r>
              <a:rPr lang="en-US" sz="11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evaluation uses the held-out 10,000-row test set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4590288" y="1481328"/>
            <a:ext cx="1965960" cy="384048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504188"/>
            <a:ext cx="18745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556248" y="1481328"/>
            <a:ext cx="1508760" cy="384048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01968" y="1504188"/>
            <a:ext cx="1417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RF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65008" y="1481328"/>
            <a:ext cx="1508760" cy="384048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10728" y="1504188"/>
            <a:ext cx="1417320" cy="3383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Tuned RF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90288" y="1865376"/>
            <a:ext cx="19659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1888236"/>
            <a:ext cx="1874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556248" y="1865376"/>
            <a:ext cx="15087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1888236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0.9178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8065008" y="1865376"/>
            <a:ext cx="15087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0728" y="1888236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0.5462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590288" y="2258568"/>
            <a:ext cx="1965960" cy="39319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36008" y="2281428"/>
            <a:ext cx="1874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(toxic)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556248" y="2258568"/>
            <a:ext cx="1508760" cy="39319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01968" y="2281428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0.1000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8065008" y="2258568"/>
            <a:ext cx="1508760" cy="39319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10728" y="2281428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0.0945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590288" y="2651760"/>
            <a:ext cx="19659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36008" y="2674620"/>
            <a:ext cx="1874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(toxic)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556248" y="2651760"/>
            <a:ext cx="15087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01968" y="2674620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0.0051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8065008" y="2651760"/>
            <a:ext cx="15087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10728" y="2674620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0.5532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4590288" y="3044952"/>
            <a:ext cx="1965960" cy="39319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3067812"/>
            <a:ext cx="1874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(toxic)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556248" y="3044952"/>
            <a:ext cx="1508760" cy="39319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3067812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0.0096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8065008" y="3044952"/>
            <a:ext cx="1508760" cy="39319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10728" y="3067812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0.1615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4590288" y="3438144"/>
            <a:ext cx="19659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36008" y="3461004"/>
            <a:ext cx="1874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F1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6556248" y="3438144"/>
            <a:ext cx="15087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3461004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0.8823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8065008" y="3438144"/>
            <a:ext cx="150876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10728" y="3461004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0.6473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4590288" y="3831336"/>
            <a:ext cx="1965960" cy="39319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36008" y="3854196"/>
            <a:ext cx="18745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ROC-AUC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6556248" y="3831336"/>
            <a:ext cx="1508760" cy="39319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01968" y="3854196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0.5521</a:t>
            </a:r>
            <a:endParaRPr lang="en-US" sz="1030" dirty="0"/>
          </a:p>
        </p:txBody>
      </p:sp>
      <p:sp>
        <p:nvSpPr>
          <p:cNvPr id="48" name="Shape 46"/>
          <p:cNvSpPr/>
          <p:nvPr/>
        </p:nvSpPr>
        <p:spPr>
          <a:xfrm>
            <a:off x="8065008" y="3831336"/>
            <a:ext cx="1508760" cy="39319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10728" y="3854196"/>
            <a:ext cx="141732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0.5764</a:t>
            </a:r>
            <a:endParaRPr lang="en-US" sz="1030" dirty="0"/>
          </a:p>
        </p:txBody>
      </p:sp>
      <p:sp>
        <p:nvSpPr>
          <p:cNvPr id="50" name="Shape 48"/>
          <p:cNvSpPr/>
          <p:nvPr/>
        </p:nvSpPr>
        <p:spPr>
          <a:xfrm>
            <a:off x="9829800" y="1481328"/>
            <a:ext cx="1755648" cy="3840480"/>
          </a:xfrm>
          <a:prstGeom prst="roundRect">
            <a:avLst/>
          </a:prstGeom>
          <a:solidFill>
            <a:srgbClr val="FFF2D5"/>
          </a:solidFill>
          <a:ln w="10160">
            <a:solidFill>
              <a:srgbClr val="EAD3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94392" y="169164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15711"/>
                </a:solidFill>
              </a:rPr>
              <a:t>Team explanation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0021824" y="2304288"/>
            <a:ext cx="1353312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6364A"/>
                </a:solidFill>
              </a:rPr>
              <a:t>Explain the measured precision / recall / accuracy trade-off and whether the model behavior suits your moderation use case.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17720" y="5010912"/>
            <a:ext cx="49377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The tuned output improves some toxic-class metrics while other metrics move down. Quote exact values from the table.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Clustering — method and internal metrics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dataset; ground-truth toxicity labels excluded from model fitting.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371600"/>
            <a:ext cx="3749040" cy="43434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  <a:effectLst>
            <a:outerShdw sx="100000" sy="100000" kx="0" ky="0" algn="bl" rotWithShape="0" blurRad="19050" dist="50800" dir="2700000">
              <a:srgbClr val="9AA8B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50876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80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Workflow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883664"/>
            <a:ext cx="3364992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Engineer numerical, comment-derived features.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Apply log1p to selected long-tailed count/length features and RobustScaler.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Use a reproducible 3,000-row sample for model comparison.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Plot K-Means inertia for k = 2…10; current heuristic suggestion: k = 5.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Fit K-Means and Agglomerative (Ward).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Compare Ward, complete and average linkages.</a:t>
            </a:r>
            <a:endParaRPr lang="en-US" sz="1140" dirty="0"/>
          </a:p>
          <a:p>
            <a:pPr marL="127000" indent="-127000">
              <a:buSzPct val="100000"/>
              <a:buChar char="•"/>
            </a:pPr>
            <a:r>
              <a:rPr lang="en-US" sz="114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Inspect PCA, t-SNE, dendrograms and cluster sizes.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4590288" y="1536192"/>
            <a:ext cx="2240280" cy="502920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559052"/>
            <a:ext cx="21488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830568" y="1536192"/>
            <a:ext cx="475488" cy="502920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76288" y="1559052"/>
            <a:ext cx="384048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7306056" y="1536192"/>
            <a:ext cx="1097280" cy="502920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51776" y="1559052"/>
            <a:ext cx="10058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Silhouette*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403336" y="1536192"/>
            <a:ext cx="1325880" cy="502920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1559052"/>
            <a:ext cx="123444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Davies–Bouldin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9729216" y="1536192"/>
            <a:ext cx="1417320" cy="502920"/>
          </a:xfrm>
          <a:prstGeom prst="rect">
            <a:avLst/>
          </a:prstGeom>
          <a:solidFill>
            <a:srgbClr val="13223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74936" y="1559052"/>
            <a:ext cx="132588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Calinski–Harabasz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590288" y="2039112"/>
            <a:ext cx="22402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2061972"/>
            <a:ext cx="21488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K-Means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30568" y="2039112"/>
            <a:ext cx="47548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2061972"/>
            <a:ext cx="3840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06056" y="2039112"/>
            <a:ext cx="10972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2061972"/>
            <a:ext cx="10058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0.2388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403336" y="2039112"/>
            <a:ext cx="13258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49056" y="2061972"/>
            <a:ext cx="12344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1.1301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729216" y="2039112"/>
            <a:ext cx="141732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74936" y="2061972"/>
            <a:ext cx="132588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711.1586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90288" y="2569464"/>
            <a:ext cx="2240280" cy="53035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2592324"/>
            <a:ext cx="21488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Agglomerative — Ward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30568" y="2569464"/>
            <a:ext cx="475488" cy="53035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2592324"/>
            <a:ext cx="3840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06056" y="2569464"/>
            <a:ext cx="1097280" cy="53035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51776" y="2592324"/>
            <a:ext cx="10058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0.2353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403336" y="2569464"/>
            <a:ext cx="1325880" cy="53035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49056" y="2592324"/>
            <a:ext cx="12344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1.0557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729216" y="2569464"/>
            <a:ext cx="1417320" cy="53035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74936" y="2592324"/>
            <a:ext cx="132588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646.7457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90288" y="3099816"/>
            <a:ext cx="22402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36008" y="3122676"/>
            <a:ext cx="21488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Agglomerative — Complete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30568" y="3099816"/>
            <a:ext cx="47548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3122676"/>
            <a:ext cx="3840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306056" y="3099816"/>
            <a:ext cx="10972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51776" y="3122676"/>
            <a:ext cx="10058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0.6906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403336" y="3099816"/>
            <a:ext cx="132588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49056" y="3122676"/>
            <a:ext cx="12344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0.3252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729216" y="3099816"/>
            <a:ext cx="141732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74936" y="3122676"/>
            <a:ext cx="132588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173.8524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90288" y="3630168"/>
            <a:ext cx="2240280" cy="53035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36008" y="3653028"/>
            <a:ext cx="21488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Agglomerative — Average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30568" y="3630168"/>
            <a:ext cx="475488" cy="53035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76288" y="3653028"/>
            <a:ext cx="3840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06056" y="3630168"/>
            <a:ext cx="1097280" cy="53035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51776" y="3653028"/>
            <a:ext cx="10058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0.7499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403336" y="3630168"/>
            <a:ext cx="1325880" cy="53035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449056" y="3653028"/>
            <a:ext cx="123444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0.1375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729216" y="3630168"/>
            <a:ext cx="1417320" cy="530352"/>
          </a:xfrm>
          <a:prstGeom prst="rect">
            <a:avLst/>
          </a:prstGeom>
          <a:solidFill>
            <a:srgbClr val="F0F4F8"/>
          </a:solidFill>
          <a:ln w="5080">
            <a:solidFill>
              <a:srgbClr val="DCE3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774936" y="3653028"/>
            <a:ext cx="1325880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121.1419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17720" y="4553712"/>
            <a:ext cx="6492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*Silhouette is estimated on a reproducible sample of up to 2,000 points; Davies–Bouldin and Calinski–Harabasz use the 3,000-row clustering sample.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617720" y="51663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32238"/>
                </a:solidFill>
              </a:rPr>
              <a:t>Team task: justify the selected k using the actual Elbow curve and include the measured cluster-size profile in your explanation.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clustering visuals — Elbow and dendrograms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plots are embedded from the executed clustering notebook.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98448"/>
            <a:ext cx="5166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K-Means Elbow curve</a:t>
            </a:r>
            <a:endParaRPr lang="en-US" sz="1500" dirty="0"/>
          </a:p>
        </p:txBody>
      </p:sp>
      <p:pic>
        <p:nvPicPr>
          <p:cNvPr id="6" name="Image 0" descr="/mnt/data/Review2_Submission/assets/elbow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37044"/>
            <a:ext cx="5394960" cy="2973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99632" y="12984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238"/>
                </a:solidFill>
              </a:rPr>
              <a:t>Agglomerative linkage comparison</a:t>
            </a:r>
            <a:endParaRPr lang="en-US" sz="1500" dirty="0"/>
          </a:p>
        </p:txBody>
      </p:sp>
      <p:pic>
        <p:nvPicPr>
          <p:cNvPr id="8" name="Image 1" descr="/mnt/data/Review2_Submission/assets/dendrogra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2460977"/>
            <a:ext cx="5486400" cy="1698303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5257800"/>
            <a:ext cx="10972800" cy="6675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77824" y="546811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132238"/>
                </a:solidFill>
              </a:rPr>
              <a:t>Current code output: the elbow-knee heuristic suggests k = 5. Confirm the choice by inspecting the curve, then document the team’s justification.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clustering visuals — PCA and t-SNE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 colors come from the unsupervised model labels, not the toxicity target.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9844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32238"/>
                </a:solidFill>
              </a:rPr>
              <a:t>PCA — K-Means and Agglomerative (Ward)</a:t>
            </a:r>
            <a:endParaRPr lang="en-US" sz="1420" dirty="0"/>
          </a:p>
        </p:txBody>
      </p:sp>
      <p:pic>
        <p:nvPicPr>
          <p:cNvPr id="6" name="Image 0" descr="/mnt/data/Review2_Submission/assets/pca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002060"/>
            <a:ext cx="7040880" cy="27898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2668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132238"/>
                </a:solidFill>
              </a:rPr>
              <a:t>t-SNE — K-Means sample</a:t>
            </a:r>
            <a:endParaRPr lang="en-US" sz="1420" dirty="0"/>
          </a:p>
        </p:txBody>
      </p:sp>
      <p:pic>
        <p:nvPicPr>
          <p:cNvPr id="8" name="Image 1" descr="/mnt/data/Review2_Submission/assets/tsne_kme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051270"/>
            <a:ext cx="4041648" cy="268230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3504" y="5321808"/>
            <a:ext cx="11000232" cy="65836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04672" y="5513832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26364A"/>
                </a:solidFill>
              </a:rPr>
              <a:t>Cluster counts to discuss: K-Means [1,238; 283; 1,314; 3; 162]  |  Agglomerative (Ward) [1,190; 197; 1,541; 70; 2]</a:t>
            </a:r>
            <a:endParaRPr lang="en-US" sz="1080" dirty="0"/>
          </a:p>
        </p:txBody>
      </p:sp>
      <p:sp>
        <p:nvSpPr>
          <p:cNvPr id="11" name="Text 7"/>
          <p:cNvSpPr/>
          <p:nvPr/>
        </p:nvSpPr>
        <p:spPr>
          <a:xfrm>
            <a:off x="804672" y="5779008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i="1" dirty="0">
                <a:solidFill>
                  <a:srgbClr val="64748B"/>
                </a:solidFill>
              </a:rPr>
              <a:t>Add the team’s own observation about cluster sizes and overlap.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10896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32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package, GUI and final checks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955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outputs are generated; the team must add its interpretation, push to the remote repository and rehearse the viva.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30352" y="1124712"/>
            <a:ext cx="11109960" cy="0"/>
          </a:xfrm>
          <a:prstGeom prst="line">
            <a:avLst/>
          </a:prstGeom>
          <a:noFill/>
          <a:ln w="12700">
            <a:solidFill>
              <a:srgbClr val="DC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1371600"/>
            <a:ext cx="53035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  <a:effectLst>
            <a:outerShdw sx="100000" sy="100000" kx="0" ky="0" algn="bl" rotWithShape="0" blurRad="19050" dist="50800" dir="2700000">
              <a:srgbClr val="9AA8B8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5087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80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Included in the package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1883664"/>
            <a:ext cx="49194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classification.ipynb — 10 models, comparison, CV, tuning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clustering.ipynb — metrics, Elbow, dendrogram, PCA, t-SNE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regression.ipynb — retained Review 1 track, re-run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README.md + requirements.txt + final checklist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UI + saved classifier artifact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9632" y="1371600"/>
            <a:ext cx="5376672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DCE3EB"/>
            </a:solidFill>
            <a:prstDash val="solid"/>
          </a:ln>
          <a:effectLst>
            <a:outerShdw sx="100000" sy="100000" kx="0" ky="0" algn="bl" rotWithShape="0" blurRad="19050" dist="50800" dir="2700000">
              <a:srgbClr val="9AA8B8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2512" y="1508760"/>
            <a:ext cx="5010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D807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Optional GUI demo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0" y="1883664"/>
            <a:ext cx="49926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dependencies: pip install -r requirements.txt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Run: streamlit run app/streamlit_app.py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accepts comment text and returns a prediction.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a coursework prototype, not a production safety filter.</a:t>
            </a:r>
            <a:endParaRPr lang="en-US" sz="115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deployment has not been performed.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3950208"/>
            <a:ext cx="10972800" cy="1920240"/>
          </a:xfrm>
          <a:prstGeom prst="roundRect">
            <a:avLst/>
          </a:prstGeom>
          <a:solidFill>
            <a:srgbClr val="FFF2D5"/>
          </a:solidFill>
          <a:ln w="10160">
            <a:solidFill>
              <a:srgbClr val="EAD3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16052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5711"/>
                </a:solidFill>
              </a:rPr>
              <a:t>Before presenting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96112" y="4572000"/>
            <a:ext cx="10287000" cy="10607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889" indent="-127889">
              <a:buSzPct val="100000"/>
              <a:buChar char="•"/>
            </a:pPr>
            <a:r>
              <a:rPr lang="en-US" sz="10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your own evidence-based interpretation of the classification and clustering outputs (course AI-use rule).</a:t>
            </a:r>
            <a:endParaRPr lang="en-US" sz="1060" dirty="0"/>
          </a:p>
          <a:p>
            <a:pPr marL="127889" indent="-127889">
              <a:buSzPct val="100000"/>
              <a:buChar char="•"/>
            </a:pPr>
            <a:r>
              <a:rPr lang="en-US" sz="10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the Elbow curve and justify k; explain cluster size, metrics and the limitations of surface-level features.</a:t>
            </a:r>
            <a:endParaRPr lang="en-US" sz="1060" dirty="0"/>
          </a:p>
          <a:p>
            <a:pPr marL="127889" indent="-127889">
              <a:buSzPct val="100000"/>
              <a:buChar char="•"/>
            </a:pPr>
            <a:r>
              <a:rPr lang="en-US" sz="10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all notebooks in your own environment and verify outputs; confirm the GUI locally if seeking the bonus.</a:t>
            </a:r>
            <a:endParaRPr lang="en-US" sz="1060" dirty="0"/>
          </a:p>
          <a:p>
            <a:pPr marL="127889" indent="-127889">
              <a:buSzPct val="100000"/>
              <a:buChar char="•"/>
            </a:pPr>
            <a:r>
              <a:rPr lang="en-US" sz="1060" dirty="0">
                <a:solidFill>
                  <a:srgbClr val="2636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the local milestone history to your actual GitHub repository; fill in team details on the title slide.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78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Machine Learning Capstone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Content Moderator | Review 2</dc:title>
  <dc:subject>23CSE301 Machine Learning Capstone - Review 2</dc:subject>
  <dc:creator>Real-Time Content Moderator Team</dc:creator>
  <cp:lastModifiedBy>Real-Time Content Moderator Team</cp:lastModifiedBy>
  <cp:revision>1</cp:revision>
  <dcterms:created xsi:type="dcterms:W3CDTF">2026-10-11T07:49:28Z</dcterms:created>
  <dcterms:modified xsi:type="dcterms:W3CDTF">2026-10-11T07:49:28Z</dcterms:modified>
</cp:coreProperties>
</file>